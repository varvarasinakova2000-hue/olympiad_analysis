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C7DE"/>
    <a:srgbClr val="001642"/>
    <a:srgbClr val="EBAFD0"/>
    <a:srgbClr val="E8A2C8"/>
    <a:srgbClr val="DF7DB3"/>
    <a:srgbClr val="DA6CA8"/>
    <a:srgbClr val="FA6500"/>
    <a:srgbClr val="002D86"/>
    <a:srgbClr val="0035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B752C-3762-4600-850D-A7812151BCF8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6F568-CF0A-4D17-B86C-DD3872C60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0313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B752C-3762-4600-850D-A7812151BCF8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6F568-CF0A-4D17-B86C-DD3872C60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2750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B752C-3762-4600-850D-A7812151BCF8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6F568-CF0A-4D17-B86C-DD3872C60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4469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B752C-3762-4600-850D-A7812151BCF8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6F568-CF0A-4D17-B86C-DD3872C60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9936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B752C-3762-4600-850D-A7812151BCF8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6F568-CF0A-4D17-B86C-DD3872C60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9097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B752C-3762-4600-850D-A7812151BCF8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6F568-CF0A-4D17-B86C-DD3872C60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7454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B752C-3762-4600-850D-A7812151BCF8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6F568-CF0A-4D17-B86C-DD3872C60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9481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B752C-3762-4600-850D-A7812151BCF8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6F568-CF0A-4D17-B86C-DD3872C60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5926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B752C-3762-4600-850D-A7812151BCF8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6F568-CF0A-4D17-B86C-DD3872C60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7342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B752C-3762-4600-850D-A7812151BCF8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6F568-CF0A-4D17-B86C-DD3872C60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0572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B752C-3762-4600-850D-A7812151BCF8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6F568-CF0A-4D17-B86C-DD3872C60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3111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9B752C-3762-4600-850D-A7812151BCF8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16F568-CF0A-4D17-B86C-DD3872C60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4688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/>
          <p:cNvSpPr/>
          <p:nvPr/>
        </p:nvSpPr>
        <p:spPr>
          <a:xfrm>
            <a:off x="310243" y="4188279"/>
            <a:ext cx="11560628" cy="1730828"/>
          </a:xfrm>
          <a:prstGeom prst="roundRect">
            <a:avLst/>
          </a:prstGeom>
          <a:solidFill>
            <a:srgbClr val="002060"/>
          </a:solidFill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02129" y="1379765"/>
            <a:ext cx="10529207" cy="1770970"/>
          </a:xfrm>
        </p:spPr>
        <p:txBody>
          <a:bodyPr>
            <a:normAutofit/>
          </a:bodyPr>
          <a:lstStyle/>
          <a:p>
            <a:pPr algn="l"/>
            <a:r>
              <a:rPr lang="ru-RU" sz="54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Что показали результаты олимпиады</a:t>
            </a:r>
            <a:endParaRPr lang="ru-RU" sz="5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90979" y="924153"/>
            <a:ext cx="5219700" cy="455612"/>
          </a:xfrm>
        </p:spPr>
        <p:txBody>
          <a:bodyPr/>
          <a:lstStyle/>
          <a:p>
            <a:r>
              <a:rPr lang="ru-RU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о</a:t>
            </a:r>
            <a:r>
              <a:rPr lang="ru-RU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лимпиада для школьников</a:t>
            </a:r>
            <a:endParaRPr lang="ru-RU" b="1" dirty="0">
              <a:solidFill>
                <a:schemeClr val="accent1">
                  <a:lumMod val="60000"/>
                  <a:lumOff val="40000"/>
                </a:schemeClr>
              </a:solidFill>
              <a:latin typeface="Bahnschrift SemiBold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2129" y="3144682"/>
            <a:ext cx="6964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chemeClr val="bg1">
                    <a:lumMod val="95000"/>
                  </a:schemeClr>
                </a:solidFill>
                <a:latin typeface="Bahnschrift Light SemiCondensed" panose="020B0502040204020203" pitchFamily="34" charset="0"/>
              </a:rPr>
              <a:t>Очистка данных, анализ, </a:t>
            </a:r>
            <a:r>
              <a:rPr lang="ru-RU" sz="2400" dirty="0" smtClean="0">
                <a:solidFill>
                  <a:schemeClr val="bg1">
                    <a:lumMod val="85000"/>
                  </a:schemeClr>
                </a:solidFill>
                <a:latin typeface="Bahnschrift Light SemiCondensed" panose="020B0502040204020203" pitchFamily="34" charset="0"/>
              </a:rPr>
              <a:t>выводы, рекомендации</a:t>
            </a:r>
            <a:endParaRPr lang="ru-RU" sz="2400" dirty="0">
              <a:solidFill>
                <a:schemeClr val="bg1">
                  <a:lumMod val="85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2129" y="4531179"/>
            <a:ext cx="2745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b="1" dirty="0" smtClean="0">
                <a:solidFill>
                  <a:srgbClr val="DF7DB3"/>
                </a:solidFill>
                <a:latin typeface="Arial Black" panose="020B0A04020102020204" pitchFamily="34" charset="0"/>
              </a:rPr>
              <a:t>7 928</a:t>
            </a:r>
          </a:p>
          <a:p>
            <a:pPr algn="ctr"/>
            <a:r>
              <a:rPr lang="ru-RU" sz="2000" dirty="0" smtClean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реальных участников</a:t>
            </a:r>
            <a:endParaRPr lang="ru-RU" sz="2000" dirty="0">
              <a:solidFill>
                <a:srgbClr val="DF7DB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69063" y="4531178"/>
            <a:ext cx="12682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b="1" dirty="0" smtClean="0">
                <a:solidFill>
                  <a:srgbClr val="DF7DB3"/>
                </a:solidFill>
                <a:latin typeface="Arial Black" panose="020B0A04020102020204" pitchFamily="34" charset="0"/>
              </a:rPr>
              <a:t>10</a:t>
            </a:r>
          </a:p>
          <a:p>
            <a:pPr algn="ctr"/>
            <a:r>
              <a:rPr lang="ru-RU" sz="2000" dirty="0" smtClean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регионов</a:t>
            </a:r>
            <a:endParaRPr lang="ru-RU" sz="2000" dirty="0">
              <a:solidFill>
                <a:srgbClr val="DF7DB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83014" y="4506685"/>
            <a:ext cx="325076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b="1" dirty="0" smtClean="0">
                <a:solidFill>
                  <a:srgbClr val="DF7DB3"/>
                </a:solidFill>
                <a:latin typeface="Arial Black" panose="020B0A04020102020204" pitchFamily="34" charset="0"/>
              </a:rPr>
              <a:t>12</a:t>
            </a:r>
          </a:p>
          <a:p>
            <a:pPr algn="ctr"/>
            <a:r>
              <a:rPr lang="ru-RU" sz="2000" dirty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</a:t>
            </a:r>
            <a:r>
              <a:rPr lang="ru-RU" sz="2000" dirty="0" smtClean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аданий для 5-11 классов</a:t>
            </a:r>
            <a:endParaRPr lang="ru-RU" sz="2000" dirty="0">
              <a:solidFill>
                <a:srgbClr val="DF7DB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50084" y="4531178"/>
            <a:ext cx="122020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b="1" dirty="0" smtClean="0">
                <a:solidFill>
                  <a:srgbClr val="DF7DB3"/>
                </a:solidFill>
                <a:latin typeface="Arial Black" panose="020B0A04020102020204" pitchFamily="34" charset="0"/>
              </a:rPr>
              <a:t>590</a:t>
            </a:r>
          </a:p>
          <a:p>
            <a:pPr algn="ctr"/>
            <a:r>
              <a:rPr lang="ru-RU" sz="2000" dirty="0" smtClean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школ</a:t>
            </a:r>
            <a:endParaRPr lang="ru-RU" sz="2000" dirty="0">
              <a:solidFill>
                <a:srgbClr val="DF7DB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637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/>
          <p:cNvPicPr>
            <a:picLocks noChangeAspect="1"/>
          </p:cNvPicPr>
          <p:nvPr/>
        </p:nvPicPr>
        <p:blipFill rotWithShape="1">
          <a:blip r:embed="rId2"/>
          <a:srcRect r="2604"/>
          <a:stretch/>
        </p:blipFill>
        <p:spPr>
          <a:xfrm>
            <a:off x="881688" y="2819505"/>
            <a:ext cx="8472037" cy="3704554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550655" y="461747"/>
            <a:ext cx="11320215" cy="58624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r>
              <a:rPr lang="ru-RU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очистка данных</a:t>
            </a:r>
            <a:endParaRPr lang="ru-RU" sz="500" b="1" dirty="0">
              <a:solidFill>
                <a:schemeClr val="tx1">
                  <a:lumMod val="50000"/>
                  <a:lumOff val="50000"/>
                </a:schemeClr>
              </a:solidFill>
              <a:latin typeface="Bahnschrift SemiBold" panose="020B050204020402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2400" dirty="0" smtClean="0">
                <a:latin typeface="Arial Black" panose="020B0A04020102020204" pitchFamily="34" charset="0"/>
              </a:rPr>
              <a:t>Из 8 037 строк в анализ вошли 7 928 реальных участников</a:t>
            </a:r>
          </a:p>
          <a:p>
            <a:pPr marL="0" indent="0">
              <a:buNone/>
            </a:pPr>
            <a:endParaRPr lang="ru-RU" b="1" dirty="0">
              <a:solidFill>
                <a:schemeClr val="tx1">
                  <a:lumMod val="50000"/>
                  <a:lumOff val="50000"/>
                </a:schemeClr>
              </a:solidFill>
              <a:latin typeface="Bahnschrift SemiBold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584212" y="1484722"/>
            <a:ext cx="2307293" cy="115116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200" b="1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8 037</a:t>
            </a:r>
          </a:p>
          <a:p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r>
              <a:rPr lang="ru-RU" sz="1600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трок в исходной выгрузке</a:t>
            </a:r>
            <a:endParaRPr lang="ru-RU" sz="16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6369409" y="1484721"/>
            <a:ext cx="2307293" cy="115116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200" b="1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- 72</a:t>
            </a:r>
            <a:endParaRPr lang="ru-RU" sz="32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</a:t>
            </a:r>
            <a:r>
              <a:rPr lang="ru-RU" sz="1600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естовые сессии</a:t>
            </a:r>
            <a:endParaRPr lang="ru-RU" sz="16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3476810" y="1484721"/>
            <a:ext cx="2307293" cy="115116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200" b="1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- 37</a:t>
            </a:r>
            <a:endParaRPr lang="ru-RU" sz="32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</a:t>
            </a:r>
            <a:r>
              <a:rPr lang="ru-RU" sz="1600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олных дубликатов строк</a:t>
            </a:r>
            <a:endParaRPr lang="ru-RU" sz="16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9279177" y="1484721"/>
            <a:ext cx="2307293" cy="115116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200" b="1" dirty="0" smtClean="0">
                <a:solidFill>
                  <a:srgbClr val="001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7 928</a:t>
            </a:r>
            <a:endParaRPr lang="ru-RU" sz="3200" b="1" dirty="0">
              <a:solidFill>
                <a:srgbClr val="0016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600" dirty="0" smtClean="0">
                <a:solidFill>
                  <a:srgbClr val="001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чистых записей </a:t>
            </a:r>
            <a:endParaRPr lang="ru-RU" sz="1600" dirty="0">
              <a:solidFill>
                <a:srgbClr val="0016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Прямая со стрелкой 11"/>
          <p:cNvCxnSpPr>
            <a:stCxn id="7" idx="3"/>
            <a:endCxn id="9" idx="1"/>
          </p:cNvCxnSpPr>
          <p:nvPr/>
        </p:nvCxnSpPr>
        <p:spPr>
          <a:xfrm flipV="1">
            <a:off x="2891505" y="2060304"/>
            <a:ext cx="585305" cy="1"/>
          </a:xfrm>
          <a:prstGeom prst="straightConnector1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>
            <a:stCxn id="9" idx="3"/>
            <a:endCxn id="8" idx="1"/>
          </p:cNvCxnSpPr>
          <p:nvPr/>
        </p:nvCxnSpPr>
        <p:spPr>
          <a:xfrm>
            <a:off x="5784103" y="2060304"/>
            <a:ext cx="585306" cy="0"/>
          </a:xfrm>
          <a:prstGeom prst="straightConnector1">
            <a:avLst/>
          </a:prstGeom>
          <a:ln w="25400">
            <a:solidFill>
              <a:schemeClr val="accent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>
            <a:stCxn id="8" idx="3"/>
            <a:endCxn id="10" idx="1"/>
          </p:cNvCxnSpPr>
          <p:nvPr/>
        </p:nvCxnSpPr>
        <p:spPr>
          <a:xfrm>
            <a:off x="8676702" y="2060304"/>
            <a:ext cx="602475" cy="0"/>
          </a:xfrm>
          <a:prstGeom prst="straightConnector1">
            <a:avLst/>
          </a:prstGeom>
          <a:ln w="25400">
            <a:solidFill>
              <a:schemeClr val="accent1">
                <a:lumMod val="75000"/>
              </a:schemeClr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037314" y="3315015"/>
            <a:ext cx="280921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А также:</a:t>
            </a:r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19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написаний 10 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регионов –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259 строк приведены к 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эталону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п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ропуски – пропущенные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задания (0 баллов), а не потеря данных. Не заполняем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, лишь помечаем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326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 txBox="1">
            <a:spLocks/>
          </p:cNvSpPr>
          <p:nvPr/>
        </p:nvSpPr>
        <p:spPr>
          <a:xfrm>
            <a:off x="550655" y="461747"/>
            <a:ext cx="11320215" cy="58624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r>
              <a:rPr lang="ru-RU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о</a:t>
            </a:r>
            <a:r>
              <a:rPr lang="ru-RU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бщие результаты</a:t>
            </a:r>
            <a:endParaRPr lang="ru-RU" sz="500" b="1" dirty="0">
              <a:solidFill>
                <a:schemeClr val="tx1">
                  <a:lumMod val="50000"/>
                  <a:lumOff val="50000"/>
                </a:schemeClr>
              </a:solidFill>
              <a:latin typeface="Bahnschrift SemiBold" panose="020B050204020402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2400" dirty="0">
                <a:latin typeface="Arial Black" panose="020B0A04020102020204" pitchFamily="34" charset="0"/>
              </a:rPr>
              <a:t>Средний участник решает чуть меньше половины заданий</a:t>
            </a:r>
            <a:endParaRPr lang="ru-RU" b="1" dirty="0">
              <a:solidFill>
                <a:schemeClr val="tx1">
                  <a:lumMod val="50000"/>
                  <a:lumOff val="50000"/>
                </a:schemeClr>
              </a:solidFill>
              <a:latin typeface="Bahnschrift SemiBold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584212" y="1484722"/>
            <a:ext cx="2307293" cy="1151165"/>
          </a:xfrm>
          <a:prstGeom prst="roundRect">
            <a:avLst/>
          </a:prstGeom>
          <a:solidFill>
            <a:srgbClr val="F1C7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200" b="1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5,55 </a:t>
            </a:r>
            <a:r>
              <a:rPr lang="ru-RU" sz="2000" b="1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из 12</a:t>
            </a:r>
          </a:p>
          <a:p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средний </a:t>
            </a:r>
            <a:r>
              <a:rPr lang="ru-RU" sz="1600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балл </a:t>
            </a:r>
            <a:r>
              <a:rPr lang="ru-RU" sz="1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(46 </a:t>
            </a:r>
            <a:r>
              <a:rPr lang="ru-RU" sz="1600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%)</a:t>
            </a:r>
            <a:endParaRPr lang="ru-RU" sz="16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6369409" y="1484721"/>
            <a:ext cx="2307293" cy="1151165"/>
          </a:xfrm>
          <a:prstGeom prst="roundRect">
            <a:avLst/>
          </a:prstGeom>
          <a:solidFill>
            <a:srgbClr val="F1C7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200" b="1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62%</a:t>
            </a:r>
            <a:endParaRPr lang="ru-RU" sz="32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lang="ru-RU" sz="1400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тветили на все задания</a:t>
            </a:r>
            <a:endParaRPr lang="ru-RU" sz="14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3476810" y="1484721"/>
            <a:ext cx="2307293" cy="115116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200" b="1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16% </a:t>
            </a:r>
          </a:p>
          <a:p>
            <a:r>
              <a:rPr lang="ru-RU" sz="1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</a:t>
            </a:r>
            <a:r>
              <a:rPr lang="ru-RU" sz="1400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частников с высоким результатом </a:t>
            </a:r>
            <a:r>
              <a:rPr lang="ru-RU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9+</a:t>
            </a:r>
            <a:r>
              <a:rPr lang="ru-RU" sz="1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баллов</a:t>
            </a: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9279177" y="1484721"/>
            <a:ext cx="2307293" cy="115116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200" b="1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74 сек</a:t>
            </a:r>
            <a:endParaRPr lang="ru-RU" sz="32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lang="ru-RU" sz="1400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среднем на задание, </a:t>
            </a:r>
            <a:r>
              <a:rPr lang="ru-RU" sz="1400" b="1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 мин </a:t>
            </a:r>
            <a:r>
              <a:rPr lang="ru-RU" sz="1400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 всю сессию</a:t>
            </a:r>
            <a:endParaRPr lang="ru-RU" sz="14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858" y="2843868"/>
            <a:ext cx="8624718" cy="365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51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 txBox="1">
            <a:spLocks/>
          </p:cNvSpPr>
          <p:nvPr/>
        </p:nvSpPr>
        <p:spPr>
          <a:xfrm>
            <a:off x="550655" y="461747"/>
            <a:ext cx="11320215" cy="58624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r>
              <a:rPr lang="ru-RU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с</a:t>
            </a:r>
            <a:r>
              <a:rPr lang="ru-RU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ложность заданий</a:t>
            </a:r>
            <a:endParaRPr lang="ru-RU" sz="500" b="1" dirty="0">
              <a:solidFill>
                <a:schemeClr val="tx1">
                  <a:lumMod val="50000"/>
                  <a:lumOff val="50000"/>
                </a:schemeClr>
              </a:solidFill>
              <a:latin typeface="Bahnschrift SemiBold" panose="020B050204020402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2400" dirty="0">
                <a:latin typeface="Arial Black" panose="020B0A04020102020204" pitchFamily="34" charset="0"/>
              </a:rPr>
              <a:t>Задания 1, 9 и 3 решает меньше трети участников</a:t>
            </a:r>
            <a:endParaRPr lang="ru-RU" b="1" dirty="0">
              <a:solidFill>
                <a:schemeClr val="tx1">
                  <a:lumMod val="50000"/>
                  <a:lumOff val="50000"/>
                </a:schemeClr>
              </a:solidFill>
              <a:latin typeface="Bahnschrift SemiBold" panose="020B0502040204020203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r="45549"/>
          <a:stretch/>
        </p:blipFill>
        <p:spPr>
          <a:xfrm>
            <a:off x="713941" y="1628119"/>
            <a:ext cx="7527471" cy="4611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5042" y="1628119"/>
            <a:ext cx="389114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Самые сложные: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1, 9 и 3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Самые лёгкие: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5, 8 и 4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Нет ни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нерешаемых,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ни тривиальных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заданий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Все 12 заданий ведут себя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ожидаемо. Нет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ни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одного,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где сильные ошибались бы так же часто, как слабые,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а такое бывает при неудачной формулировке или ошибке в ключе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ответов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Порядок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сложности один и тот же во всех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классах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2318657" y="1628118"/>
            <a:ext cx="4572000" cy="372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Доля верных ответов</a:t>
            </a:r>
            <a:endParaRPr lang="ru-RU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788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/>
          <p:cNvSpPr/>
          <p:nvPr/>
        </p:nvSpPr>
        <p:spPr>
          <a:xfrm>
            <a:off x="310242" y="5187954"/>
            <a:ext cx="11560628" cy="1384296"/>
          </a:xfrm>
          <a:prstGeom prst="roundRect">
            <a:avLst/>
          </a:prstGeom>
          <a:solidFill>
            <a:srgbClr val="F1C7DE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одзаголовок 2"/>
          <p:cNvSpPr txBox="1">
            <a:spLocks/>
          </p:cNvSpPr>
          <p:nvPr/>
        </p:nvSpPr>
        <p:spPr>
          <a:xfrm>
            <a:off x="550655" y="461747"/>
            <a:ext cx="11320215" cy="58624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r>
              <a:rPr lang="ru-RU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п</a:t>
            </a:r>
            <a:r>
              <a:rPr lang="ru-RU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оведение  на сложных заданиях</a:t>
            </a:r>
            <a:endParaRPr lang="ru-RU" sz="500" b="1" dirty="0">
              <a:solidFill>
                <a:schemeClr val="tx1">
                  <a:lumMod val="50000"/>
                  <a:lumOff val="50000"/>
                </a:schemeClr>
              </a:solidFill>
              <a:latin typeface="Bahnschrift SemiBold" panose="020B050204020402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2400" dirty="0">
                <a:latin typeface="Arial Black" panose="020B0A04020102020204" pitchFamily="34" charset="0"/>
              </a:rPr>
              <a:t>На трудных задачах ученики сдаются</a:t>
            </a:r>
            <a:endParaRPr lang="ru-RU" b="1" dirty="0">
              <a:solidFill>
                <a:schemeClr val="tx1">
                  <a:lumMod val="50000"/>
                  <a:lumOff val="50000"/>
                </a:schemeClr>
              </a:solidFill>
              <a:latin typeface="Bahnschrift SemiBold" panose="020B050204020402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l="54411"/>
          <a:stretch/>
        </p:blipFill>
        <p:spPr>
          <a:xfrm>
            <a:off x="550655" y="1587954"/>
            <a:ext cx="4919801" cy="36000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l="43" r="49020"/>
          <a:stretch/>
        </p:blipFill>
        <p:spPr>
          <a:xfrm>
            <a:off x="5810211" y="1587954"/>
            <a:ext cx="6060659" cy="36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9381" y="5389048"/>
            <a:ext cx="104023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solidFill>
                  <a:srgbClr val="001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Задание 1 занимает в среднем 64 сек, задание 5 </a:t>
            </a:r>
            <a:r>
              <a:rPr lang="ru-RU" dirty="0" smtClean="0">
                <a:solidFill>
                  <a:srgbClr val="001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ru-RU" dirty="0">
                <a:solidFill>
                  <a:srgbClr val="001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81 сек. Верно и неверно ответившие тратят </a:t>
            </a:r>
            <a:r>
              <a:rPr lang="ru-RU" dirty="0" smtClean="0">
                <a:solidFill>
                  <a:srgbClr val="001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одинаковое </a:t>
            </a:r>
            <a:r>
              <a:rPr lang="ru-RU" dirty="0">
                <a:solidFill>
                  <a:srgbClr val="001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время, значит трудную задачу не </a:t>
            </a:r>
            <a:r>
              <a:rPr lang="ru-RU" dirty="0" err="1">
                <a:solidFill>
                  <a:srgbClr val="001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дорешивают</a:t>
            </a:r>
            <a:r>
              <a:rPr lang="ru-RU" dirty="0">
                <a:solidFill>
                  <a:srgbClr val="001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ru-RU" dirty="0" smtClean="0">
                <a:solidFill>
                  <a:srgbClr val="001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Мгновенных ответов на </a:t>
            </a:r>
            <a:r>
              <a:rPr lang="ru-RU" dirty="0">
                <a:solidFill>
                  <a:srgbClr val="001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сложных заданиях в </a:t>
            </a:r>
            <a:r>
              <a:rPr lang="ru-RU" dirty="0" smtClean="0">
                <a:solidFill>
                  <a:srgbClr val="001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5-8 </a:t>
            </a:r>
            <a:r>
              <a:rPr lang="ru-RU" dirty="0">
                <a:solidFill>
                  <a:srgbClr val="001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 больше. </a:t>
            </a:r>
            <a:r>
              <a:rPr lang="ru-RU" dirty="0" smtClean="0">
                <a:solidFill>
                  <a:srgbClr val="001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Стоит проверить </a:t>
            </a:r>
            <a:r>
              <a:rPr lang="ru-RU" dirty="0">
                <a:solidFill>
                  <a:srgbClr val="001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 методистами формулировки заданий 1, </a:t>
            </a:r>
            <a:r>
              <a:rPr lang="ru-RU" dirty="0" smtClean="0">
                <a:solidFill>
                  <a:srgbClr val="001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 и </a:t>
            </a:r>
            <a:r>
              <a:rPr lang="ru-RU" dirty="0">
                <a:solidFill>
                  <a:srgbClr val="001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2522934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 txBox="1">
            <a:spLocks/>
          </p:cNvSpPr>
          <p:nvPr/>
        </p:nvSpPr>
        <p:spPr>
          <a:xfrm>
            <a:off x="550655" y="461747"/>
            <a:ext cx="11320215" cy="58624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r>
              <a:rPr lang="ru-RU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вовлеченность</a:t>
            </a:r>
            <a:endParaRPr lang="ru-RU" sz="500" b="1" dirty="0">
              <a:solidFill>
                <a:schemeClr val="tx1">
                  <a:lumMod val="50000"/>
                  <a:lumOff val="50000"/>
                </a:schemeClr>
              </a:solidFill>
              <a:latin typeface="Bahnschrift SemiBold" panose="020B0502040204020203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7" y="1009563"/>
            <a:ext cx="12119383" cy="3664000"/>
          </a:xfrm>
          <a:prstGeom prst="rect">
            <a:avLst/>
          </a:prstGeom>
        </p:spPr>
      </p:pic>
      <p:sp>
        <p:nvSpPr>
          <p:cNvPr id="11" name="Скругленный прямоугольник 10"/>
          <p:cNvSpPr/>
          <p:nvPr/>
        </p:nvSpPr>
        <p:spPr>
          <a:xfrm>
            <a:off x="1543574" y="4838576"/>
            <a:ext cx="4401525" cy="1612558"/>
          </a:xfrm>
          <a:prstGeom prst="roundRect">
            <a:avLst/>
          </a:prstGeom>
          <a:solidFill>
            <a:srgbClr val="F1C7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Средний 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балл: 4,5 → 6,6 (+</a:t>
            </a:r>
            <a:r>
              <a:rPr lang="ru-RU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47%)</a:t>
            </a:r>
          </a:p>
          <a:p>
            <a:r>
              <a:rPr lang="ru-RU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Доля 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9+ баллов: </a:t>
            </a:r>
            <a:r>
              <a:rPr lang="ru-RU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10% 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ru-RU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27%</a:t>
            </a:r>
          </a:p>
          <a:p>
            <a:r>
              <a:rPr lang="ru-RU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классе задания 1 и 9 решаются на уровне угадывания</a:t>
            </a:r>
            <a:r>
              <a:rPr lang="ru-RU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386931" y="4838576"/>
            <a:ext cx="4149641" cy="161255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Все 12 заданий проходят </a:t>
            </a:r>
            <a:r>
              <a:rPr lang="ru-RU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60-64%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в каждой </a:t>
            </a:r>
            <a:r>
              <a:rPr lang="ru-RU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параллели</a:t>
            </a:r>
          </a:p>
          <a:p>
            <a:r>
              <a:rPr lang="ru-RU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Различия незначительны</a:t>
            </a:r>
            <a:endParaRPr lang="ru-RU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122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 txBox="1">
            <a:spLocks/>
          </p:cNvSpPr>
          <p:nvPr/>
        </p:nvSpPr>
        <p:spPr>
          <a:xfrm>
            <a:off x="550655" y="461747"/>
            <a:ext cx="11320215" cy="58624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r>
              <a:rPr lang="ru-RU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а</a:t>
            </a:r>
            <a:r>
              <a:rPr lang="ru-RU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удитория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ru-RU" sz="2200" b="1" dirty="0">
                <a:latin typeface="Arial Black" panose="020B0A04020102020204" pitchFamily="34" charset="0"/>
              </a:rPr>
              <a:t>Аудитория сбалансирована: </a:t>
            </a:r>
            <a:r>
              <a:rPr lang="en-US" sz="2200" b="1" dirty="0" smtClean="0">
                <a:latin typeface="Arial Black" panose="020B0A04020102020204" pitchFamily="34" charset="0"/>
              </a:rPr>
              <a:t>~</a:t>
            </a:r>
            <a:r>
              <a:rPr lang="ru-RU" sz="2200" b="1" dirty="0" smtClean="0">
                <a:latin typeface="Arial Black" panose="020B0A04020102020204" pitchFamily="34" charset="0"/>
              </a:rPr>
              <a:t>10% </a:t>
            </a:r>
            <a:r>
              <a:rPr lang="ru-RU" sz="2200" b="1" dirty="0">
                <a:latin typeface="Arial Black" panose="020B0A04020102020204" pitchFamily="34" charset="0"/>
              </a:rPr>
              <a:t>на регион, ~</a:t>
            </a:r>
            <a:r>
              <a:rPr lang="ru-RU" sz="2200" b="1" dirty="0" smtClean="0">
                <a:latin typeface="Arial Black" panose="020B0A04020102020204" pitchFamily="34" charset="0"/>
              </a:rPr>
              <a:t>14% </a:t>
            </a:r>
            <a:r>
              <a:rPr lang="ru-RU" sz="2200" b="1" dirty="0">
                <a:latin typeface="Arial Black" panose="020B0A04020102020204" pitchFamily="34" charset="0"/>
              </a:rPr>
              <a:t>на </a:t>
            </a:r>
            <a:r>
              <a:rPr lang="ru-RU" sz="2200" b="1" dirty="0" smtClean="0">
                <a:latin typeface="Arial Black" panose="020B0A04020102020204" pitchFamily="34" charset="0"/>
              </a:rPr>
              <a:t>параллель</a:t>
            </a:r>
            <a:endParaRPr lang="ru-RU" sz="2200" b="1" dirty="0">
              <a:latin typeface="Arial Black" panose="020B0A04020102020204" pitchFamily="34" charset="0"/>
            </a:endParaRPr>
          </a:p>
          <a:p>
            <a:pPr marL="0" indent="0">
              <a:spcAft>
                <a:spcPts val="600"/>
              </a:spcAft>
              <a:buNone/>
            </a:pPr>
            <a:endParaRPr lang="ru-RU" sz="2400" b="1" dirty="0">
              <a:solidFill>
                <a:schemeClr val="tx1">
                  <a:lumMod val="50000"/>
                  <a:lumOff val="50000"/>
                </a:schemeClr>
              </a:solidFill>
              <a:latin typeface="Bahnschrift SemiBold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1590541" y="4898996"/>
            <a:ext cx="1831818" cy="132733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200" b="1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</a:t>
            </a:r>
            <a:r>
              <a:rPr lang="en-US" sz="3200" b="1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</a:p>
          <a:p>
            <a:r>
              <a:rPr lang="ru-RU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 компьютера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512950"/>
            <a:ext cx="11870871" cy="3258515"/>
          </a:xfrm>
          <a:prstGeom prst="rect">
            <a:avLst/>
          </a:prstGeom>
        </p:spPr>
      </p:pic>
      <p:sp>
        <p:nvSpPr>
          <p:cNvPr id="7" name="Скругленный прямоугольник 6"/>
          <p:cNvSpPr/>
          <p:nvPr/>
        </p:nvSpPr>
        <p:spPr>
          <a:xfrm>
            <a:off x="3812805" y="4898996"/>
            <a:ext cx="1831818" cy="132733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200" b="1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</a:t>
            </a:r>
            <a:r>
              <a:rPr lang="en-US" sz="3200" b="1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</a:p>
          <a:p>
            <a:r>
              <a:rPr lang="ru-RU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 телефона</a:t>
            </a: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6035069" y="4914076"/>
            <a:ext cx="1831818" cy="132733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2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3200" b="1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</a:p>
          <a:p>
            <a:r>
              <a:rPr lang="ru-RU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 планшета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7333" y="5236428"/>
            <a:ext cx="2340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Балл не зависит от устройства</a:t>
            </a:r>
            <a:endParaRPr lang="ru-RU" sz="20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151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 txBox="1">
            <a:spLocks/>
          </p:cNvSpPr>
          <p:nvPr/>
        </p:nvSpPr>
        <p:spPr>
          <a:xfrm>
            <a:off x="550655" y="461747"/>
            <a:ext cx="11320215" cy="58624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r>
              <a:rPr lang="ru-RU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с</a:t>
            </a:r>
            <a:r>
              <a:rPr lang="ru-RU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равнение регионов</a:t>
            </a:r>
          </a:p>
          <a:p>
            <a:pPr marL="0" indent="0">
              <a:buNone/>
            </a:pPr>
            <a:r>
              <a:rPr lang="ru-RU" sz="2400" b="1" dirty="0">
                <a:latin typeface="Arial Black" panose="020B0A04020102020204" pitchFamily="34" charset="0"/>
              </a:rPr>
              <a:t>Разница </a:t>
            </a:r>
            <a:r>
              <a:rPr lang="ru-RU" sz="2400" b="1" dirty="0" smtClean="0">
                <a:latin typeface="Arial Black" panose="020B0A04020102020204" pitchFamily="34" charset="0"/>
              </a:rPr>
              <a:t>между средними баллами в регионах </a:t>
            </a:r>
            <a:r>
              <a:rPr lang="ru-RU" sz="2400" b="1" dirty="0">
                <a:latin typeface="Arial Black" panose="020B0A04020102020204" pitchFamily="34" charset="0"/>
              </a:rPr>
              <a:t>укладывается в статистическую погрешность</a:t>
            </a:r>
          </a:p>
          <a:p>
            <a:pPr marL="0" indent="0">
              <a:spcAft>
                <a:spcPts val="600"/>
              </a:spcAft>
              <a:buNone/>
            </a:pPr>
            <a:endParaRPr lang="ru-RU" sz="2400" b="1" dirty="0">
              <a:solidFill>
                <a:schemeClr val="tx1">
                  <a:lumMod val="50000"/>
                  <a:lumOff val="50000"/>
                </a:schemeClr>
              </a:solidFill>
              <a:latin typeface="Bahnschrift SemiBold" panose="020B0502040204020203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r="6195"/>
          <a:stretch/>
        </p:blipFill>
        <p:spPr>
          <a:xfrm>
            <a:off x="136409" y="2160925"/>
            <a:ext cx="8036041" cy="39056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98135" y="2488095"/>
            <a:ext cx="33881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Разброс средних: </a:t>
            </a: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5,38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(Пермь) –</a:t>
            </a: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5,73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(Новосибирск), всего 0,35 балла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Часовой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пояс не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влияет на балл 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Регионы нельзя разделить на «сильные» и «слабые»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627913" y="1934936"/>
            <a:ext cx="6670222" cy="5531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Средний балл по регионам</a:t>
            </a:r>
            <a:endParaRPr lang="ru-RU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044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кругленный прямоугольник 8"/>
          <p:cNvSpPr/>
          <p:nvPr/>
        </p:nvSpPr>
        <p:spPr>
          <a:xfrm>
            <a:off x="6041512" y="754867"/>
            <a:ext cx="5845301" cy="658392"/>
          </a:xfrm>
          <a:prstGeom prst="roundRect">
            <a:avLst/>
          </a:prstGeom>
          <a:solidFill>
            <a:srgbClr val="F1C7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 err="1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region_report</a:t>
            </a:r>
            <a:r>
              <a:rPr lang="ru-RU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ru-RU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Москва") – 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KPI, автоматические выводы, топ-школы, </a:t>
            </a:r>
            <a:r>
              <a:rPr lang="ru-RU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таблица по классам, 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ru-RU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графика</a:t>
            </a:r>
            <a:endParaRPr lang="ru-RU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одзаголовок 2"/>
          <p:cNvSpPr txBox="1">
            <a:spLocks/>
          </p:cNvSpPr>
          <p:nvPr/>
        </p:nvSpPr>
        <p:spPr>
          <a:xfrm>
            <a:off x="550655" y="461747"/>
            <a:ext cx="11320215" cy="58624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r>
              <a:rPr lang="ru-RU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автоматизация</a:t>
            </a:r>
          </a:p>
          <a:p>
            <a:pPr marL="0" indent="0">
              <a:buNone/>
            </a:pPr>
            <a:r>
              <a:rPr lang="ru-RU" sz="2200" b="1" dirty="0">
                <a:latin typeface="Arial Black" panose="020B0A04020102020204" pitchFamily="34" charset="0"/>
              </a:rPr>
              <a:t>Мини-отчёт по любому региону </a:t>
            </a:r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309360" y="5497140"/>
            <a:ext cx="5117607" cy="55971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export_region_pdf</a:t>
            </a:r>
            <a:r>
              <a:rPr lang="ru-RU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ru-RU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Москва") – отчёт 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lang="ru-RU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PDF</a:t>
            </a:r>
            <a:endParaRPr lang="ru-RU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 rotWithShape="1">
          <a:blip r:embed="rId2"/>
          <a:srcRect b="14731"/>
          <a:stretch/>
        </p:blipFill>
        <p:spPr>
          <a:xfrm>
            <a:off x="1" y="1867406"/>
            <a:ext cx="5736326" cy="3408943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436" y="1767649"/>
            <a:ext cx="6455674" cy="4537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658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/>
          <p:cNvSpPr/>
          <p:nvPr/>
        </p:nvSpPr>
        <p:spPr>
          <a:xfrm>
            <a:off x="310243" y="1828800"/>
            <a:ext cx="11560628" cy="4465864"/>
          </a:xfrm>
          <a:prstGeom prst="roundRect">
            <a:avLst/>
          </a:prstGeom>
          <a:solidFill>
            <a:srgbClr val="002060"/>
          </a:solidFill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550652" y="2245222"/>
            <a:ext cx="370808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Возрастные треки</a:t>
            </a:r>
          </a:p>
          <a:p>
            <a:r>
              <a:rPr lang="ru-RU" sz="1600" dirty="0" smtClean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Отдельные </a:t>
            </a:r>
            <a:r>
              <a:rPr lang="ru-RU" sz="1600" dirty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варианты для </a:t>
            </a:r>
            <a:r>
              <a:rPr lang="ru-RU" sz="1600" dirty="0" smtClean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5-6</a:t>
            </a:r>
            <a:r>
              <a:rPr lang="ru-RU" sz="1600" dirty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1600" dirty="0" smtClean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7-9 </a:t>
            </a:r>
            <a:r>
              <a:rPr lang="ru-RU" sz="1600" dirty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ru-RU" sz="1600" dirty="0" smtClean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10-11 </a:t>
            </a:r>
            <a:r>
              <a:rPr lang="ru-RU" sz="1600" dirty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классов. Младшие </a:t>
            </a:r>
            <a:r>
              <a:rPr lang="ru-RU" sz="1600" dirty="0" smtClean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так же </a:t>
            </a:r>
            <a:r>
              <a:rPr lang="ru-RU" sz="1600" dirty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вовлечены, но получают низкие баллы: риск разочарования и оттока.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8735" y="2249845"/>
            <a:ext cx="374726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Переработать задания 1, </a:t>
            </a:r>
            <a:r>
              <a:rPr lang="ru-RU" sz="2000" b="1" dirty="0" smtClean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9 и </a:t>
            </a:r>
            <a:r>
              <a:rPr lang="ru-RU" sz="20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3</a:t>
            </a:r>
          </a:p>
          <a:p>
            <a:r>
              <a:rPr lang="ru-RU" sz="1600" dirty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Проверить формулировки, добавить разбор после олимпиады. Задание 1 </a:t>
            </a:r>
            <a:r>
              <a:rPr lang="ru-RU" sz="1600" dirty="0" smtClean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ru-RU" sz="1600" dirty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первое впечатление</a:t>
            </a:r>
            <a:r>
              <a:rPr lang="ru-RU" sz="1600" dirty="0" smtClean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а </a:t>
            </a:r>
            <a:r>
              <a:rPr lang="ru-RU" sz="1600" dirty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 нём сдаются чаще всего.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6122" y="4151604"/>
            <a:ext cx="32643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Мобильный </a:t>
            </a:r>
            <a:r>
              <a:rPr lang="ru-RU" sz="2000" b="1" dirty="0" smtClean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канал</a:t>
            </a:r>
          </a:p>
          <a:p>
            <a:r>
              <a:rPr lang="ru-RU" sz="1600" dirty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Треть </a:t>
            </a:r>
            <a:r>
              <a:rPr lang="ru-RU" sz="1600" dirty="0" smtClean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участников проходят с телефона, </a:t>
            </a:r>
            <a:r>
              <a:rPr lang="ru-RU" sz="1600" dirty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ru-RU" sz="1600" dirty="0" smtClean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результаты те же. Можно </a:t>
            </a:r>
            <a:r>
              <a:rPr lang="ru-RU" sz="1600" dirty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смело продвигать участие с </a:t>
            </a:r>
            <a:r>
              <a:rPr lang="ru-RU" sz="1600" dirty="0" smtClean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мобильных устройств.</a:t>
            </a:r>
            <a:endParaRPr lang="ru-RU" sz="1600" dirty="0">
              <a:solidFill>
                <a:srgbClr val="DF7DB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одзаголовок 2"/>
          <p:cNvSpPr txBox="1">
            <a:spLocks/>
          </p:cNvSpPr>
          <p:nvPr/>
        </p:nvSpPr>
        <p:spPr>
          <a:xfrm>
            <a:off x="550655" y="461747"/>
            <a:ext cx="11320215" cy="58624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r>
              <a:rPr lang="ru-RU" sz="24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рекомендации</a:t>
            </a:r>
          </a:p>
          <a:p>
            <a:pPr marL="0" indent="0">
              <a:buNone/>
            </a:pPr>
            <a:r>
              <a:rPr lang="ru-RU" sz="24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Что делать продуктовой и образовательной командам</a:t>
            </a:r>
            <a:endParaRPr lang="ru-RU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50652" y="4151605"/>
            <a:ext cx="380107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Честные </a:t>
            </a:r>
            <a:r>
              <a:rPr lang="ru-RU" sz="2000" b="1" dirty="0" smtClean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рейтинги</a:t>
            </a:r>
          </a:p>
          <a:p>
            <a:r>
              <a:rPr lang="ru-RU" sz="1600" dirty="0" smtClean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Сравнивать школы по нескольким турам и при большем количестве </a:t>
            </a:r>
            <a:r>
              <a:rPr lang="ru-RU" sz="1600" dirty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участников. </a:t>
            </a:r>
            <a:r>
              <a:rPr lang="ru-RU" sz="1600" dirty="0" smtClean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Сейчас различия </a:t>
            </a:r>
            <a:r>
              <a:rPr lang="ru-RU" sz="1600" dirty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между </a:t>
            </a:r>
            <a:r>
              <a:rPr lang="ru-RU" sz="1600" dirty="0" smtClean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ними </a:t>
            </a:r>
            <a:r>
              <a:rPr lang="ru-RU" sz="1600" dirty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пределах случайности.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61321" y="2245221"/>
            <a:ext cx="379023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Качество </a:t>
            </a:r>
            <a:r>
              <a:rPr lang="ru-RU" sz="2000" b="1" dirty="0" smtClean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данных</a:t>
            </a:r>
          </a:p>
          <a:p>
            <a:r>
              <a:rPr lang="ru-RU" sz="1600" dirty="0" smtClean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Регион </a:t>
            </a:r>
            <a:r>
              <a:rPr lang="ru-RU" sz="1600" dirty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выбирать из списка, </a:t>
            </a:r>
            <a:r>
              <a:rPr lang="ru-RU" sz="1600" dirty="0" smtClean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отсекать </a:t>
            </a:r>
            <a:r>
              <a:rPr lang="ru-RU" sz="1600" dirty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сессии быстрее 1-2 </a:t>
            </a:r>
            <a:r>
              <a:rPr lang="ru-RU" sz="1600" dirty="0" smtClean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минут на </a:t>
            </a:r>
            <a:r>
              <a:rPr lang="ru-RU" sz="1600" dirty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стороне </a:t>
            </a:r>
            <a:r>
              <a:rPr lang="ru-RU" sz="1600" dirty="0" smtClean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платформы, </a:t>
            </a:r>
            <a:r>
              <a:rPr lang="ru-RU" sz="1600" dirty="0" err="1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дедуплицировать</a:t>
            </a:r>
            <a:r>
              <a:rPr lang="ru-RU" sz="1600" dirty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выгрузку по `</a:t>
            </a:r>
            <a:r>
              <a:rPr lang="ru-RU" sz="1600" dirty="0" err="1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student_id</a:t>
            </a:r>
            <a:r>
              <a:rPr lang="ru-RU" sz="1600" dirty="0" smtClean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`.</a:t>
            </a:r>
            <a:endParaRPr lang="ru-RU" sz="1600" dirty="0">
              <a:solidFill>
                <a:srgbClr val="DF7DB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04921" y="4151605"/>
            <a:ext cx="388401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Подготовительные курсы</a:t>
            </a:r>
          </a:p>
          <a:p>
            <a:r>
              <a:rPr lang="ru-RU" sz="1600" dirty="0" smtClean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Есть </a:t>
            </a:r>
            <a:r>
              <a:rPr lang="ru-RU" sz="1600" dirty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два рабочих признака: класс участника и задания, которые он не решил. Также необходим разбор сложных </a:t>
            </a:r>
            <a:r>
              <a:rPr lang="ru-RU" sz="1600" dirty="0" smtClean="0">
                <a:solidFill>
                  <a:srgbClr val="DF7D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заданий.</a:t>
            </a:r>
            <a:endParaRPr lang="ru-RU" sz="1600" dirty="0">
              <a:solidFill>
                <a:srgbClr val="DF7DB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370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390</TotalTime>
  <Words>425</Words>
  <Application>Microsoft Office PowerPoint</Application>
  <PresentationFormat>Широкоэкранный</PresentationFormat>
  <Paragraphs>84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Arial</vt:lpstr>
      <vt:lpstr>Arial Black</vt:lpstr>
      <vt:lpstr>Bahnschrift Light SemiCondensed</vt:lpstr>
      <vt:lpstr>Bahnschrift SemiBold</vt:lpstr>
      <vt:lpstr>Calibri</vt:lpstr>
      <vt:lpstr>Calibri Light</vt:lpstr>
      <vt:lpstr>Тема Office</vt:lpstr>
      <vt:lpstr>Что показали результаты олимпиады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Что показали результаты олимпиады</dc:title>
  <dc:creator>User</dc:creator>
  <cp:lastModifiedBy>User</cp:lastModifiedBy>
  <cp:revision>31</cp:revision>
  <dcterms:created xsi:type="dcterms:W3CDTF">2026-09-23T16:57:01Z</dcterms:created>
  <dcterms:modified xsi:type="dcterms:W3CDTF">2026-09-28T20:26:49Z</dcterms:modified>
</cp:coreProperties>
</file>